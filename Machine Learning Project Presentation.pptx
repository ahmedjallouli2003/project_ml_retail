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lay Bold" charset="1" panose="00000800000000000000"/>
      <p:regular r:id="rId25"/>
    </p:embeddedFont>
    <p:embeddedFont>
      <p:font typeface="Play" charset="1" panose="00000500000000000000"/>
      <p:regular r:id="rId26"/>
    </p:embeddedFont>
    <p:embeddedFont>
      <p:font typeface="Poppins Bold" charset="1" panose="00000800000000000000"/>
      <p:regular r:id="rId27"/>
    </p:embeddedFont>
    <p:embeddedFont>
      <p:font typeface="Poppins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3392" y="1028700"/>
            <a:ext cx="12381216" cy="3214433"/>
            <a:chOff x="0" y="0"/>
            <a:chExt cx="16508288" cy="4285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96068" cy="4068148"/>
            </a:xfrm>
            <a:custGeom>
              <a:avLst/>
              <a:gdLst/>
              <a:ahLst/>
              <a:cxnLst/>
              <a:rect r="r" b="b" t="t" l="l"/>
              <a:pathLst>
                <a:path h="4068148" w="3896068">
                  <a:moveTo>
                    <a:pt x="0" y="0"/>
                  </a:moveTo>
                  <a:lnTo>
                    <a:pt x="3896068" y="0"/>
                  </a:lnTo>
                  <a:lnTo>
                    <a:pt x="3896068" y="4068148"/>
                  </a:lnTo>
                  <a:lnTo>
                    <a:pt x="0" y="4068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5045591" y="-219075"/>
              <a:ext cx="11462697" cy="2628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97"/>
                </a:lnSpc>
                <a:spcBef>
                  <a:spcPct val="0"/>
                </a:spcBef>
              </a:pPr>
              <a:r>
                <a:rPr lang="en-US" sz="11855" b="true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Machine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5045591" y="1661639"/>
              <a:ext cx="11462697" cy="2624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97"/>
                </a:lnSpc>
                <a:spcBef>
                  <a:spcPct val="0"/>
                </a:spcBef>
              </a:pPr>
              <a:r>
                <a:rPr lang="en-US" sz="11855">
                  <a:solidFill>
                    <a:srgbClr val="EBAF33"/>
                  </a:solidFill>
                  <a:latin typeface="Play"/>
                  <a:ea typeface="Play"/>
                  <a:cs typeface="Play"/>
                  <a:sym typeface="Play"/>
                </a:rPr>
                <a:t>Learning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416782" y="9258300"/>
            <a:ext cx="4833563" cy="4114800"/>
          </a:xfrm>
          <a:custGeom>
            <a:avLst/>
            <a:gdLst/>
            <a:ahLst/>
            <a:cxnLst/>
            <a:rect r="r" b="b" t="t" l="l"/>
            <a:pathLst>
              <a:path h="4114800" w="4833563">
                <a:moveTo>
                  <a:pt x="0" y="0"/>
                </a:moveTo>
                <a:lnTo>
                  <a:pt x="4833564" y="0"/>
                </a:lnTo>
                <a:lnTo>
                  <a:pt x="48335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5871218" y="-3086100"/>
            <a:ext cx="4833563" cy="4114800"/>
          </a:xfrm>
          <a:custGeom>
            <a:avLst/>
            <a:gdLst/>
            <a:ahLst/>
            <a:cxnLst/>
            <a:rect r="r" b="b" t="t" l="l"/>
            <a:pathLst>
              <a:path h="4114800" w="4833563">
                <a:moveTo>
                  <a:pt x="0" y="0"/>
                </a:moveTo>
                <a:lnTo>
                  <a:pt x="4833564" y="0"/>
                </a:lnTo>
                <a:lnTo>
                  <a:pt x="48335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38539" y="4590595"/>
            <a:ext cx="15610922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20BB5"/>
                </a:solidFill>
                <a:latin typeface="Play Bold"/>
                <a:ea typeface="Play Bold"/>
                <a:cs typeface="Play Bold"/>
                <a:sym typeface="Play Bold"/>
              </a:rPr>
              <a:t>Analyse Comportementale Clientèle Retail avec 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8539" y="8126155"/>
            <a:ext cx="5921183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20BB5"/>
                </a:solidFill>
                <a:latin typeface="Poppins Bold"/>
                <a:ea typeface="Poppins Bold"/>
                <a:cs typeface="Poppins Bold"/>
                <a:sym typeface="Poppins Bold"/>
              </a:rPr>
              <a:t>Présenté par :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Ahmed Jallouli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0530" y="6721019"/>
            <a:ext cx="1511893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C6DB8"/>
                </a:solidFill>
                <a:latin typeface="Poppins Bold"/>
                <a:ea typeface="Poppins Bold"/>
                <a:cs typeface="Poppins Bold"/>
                <a:sym typeface="Poppins Bold"/>
              </a:rPr>
              <a:t>Explo</a:t>
            </a:r>
            <a:r>
              <a:rPr lang="en-US" b="true" sz="3000" strike="noStrike" u="none">
                <a:solidFill>
                  <a:srgbClr val="3C6DB8"/>
                </a:solidFill>
                <a:latin typeface="Poppins Bold"/>
                <a:ea typeface="Poppins Bold"/>
                <a:cs typeface="Poppins Bold"/>
                <a:sym typeface="Poppins Bold"/>
              </a:rPr>
              <a:t>ration, Préparation, ACP, Modélisation et Recommandations Métier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14612" y="7859455"/>
            <a:ext cx="5921183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20BB5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Contexte :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de clients e-commerce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77574" y="3005026"/>
            <a:ext cx="8981726" cy="5018539"/>
          </a:xfrm>
          <a:custGeom>
            <a:avLst/>
            <a:gdLst/>
            <a:ahLst/>
            <a:cxnLst/>
            <a:rect r="r" b="b" t="t" l="l"/>
            <a:pathLst>
              <a:path h="5018539" w="8981726">
                <a:moveTo>
                  <a:pt x="0" y="0"/>
                </a:moveTo>
                <a:lnTo>
                  <a:pt x="8981726" y="0"/>
                </a:lnTo>
                <a:lnTo>
                  <a:pt x="8981726" y="5018539"/>
                </a:lnTo>
                <a:lnTo>
                  <a:pt x="0" y="5018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770292"/>
            <a:ext cx="6596774" cy="7488008"/>
            <a:chOff x="0" y="0"/>
            <a:chExt cx="8795699" cy="998401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88203"/>
              <a:ext cx="8795699" cy="2318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Ent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reprise e-commerce de cadeaux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Besoin : mieux comprendre les clients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Objectif : améliorer les décisions marketing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95250"/>
              <a:ext cx="5478258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500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C</a:t>
              </a:r>
              <a:r>
                <a:rPr lang="en-US" b="true" sz="4500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ontexte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42528"/>
              <a:ext cx="8795699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500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Obj</a:t>
              </a:r>
              <a:r>
                <a:rPr lang="en-US" b="true" sz="4500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ectifs métier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328403"/>
              <a:ext cx="8795699" cy="4655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Comp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rendre les comportements d’achat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Identifier les clients à risque de churn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Segmenter la clientèle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Estimer la valeur client (MonetaryTotal)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Proposer des actions marketing ciblées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72262" y="422410"/>
            <a:ext cx="11450657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Contexte 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et</a:t>
            </a: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objectifs du projet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33597" y="2808391"/>
            <a:ext cx="9425703" cy="5260857"/>
          </a:xfrm>
          <a:custGeom>
            <a:avLst/>
            <a:gdLst/>
            <a:ahLst/>
            <a:cxnLst/>
            <a:rect r="r" b="b" t="t" l="l"/>
            <a:pathLst>
              <a:path h="5260857" w="9425703">
                <a:moveTo>
                  <a:pt x="0" y="0"/>
                </a:moveTo>
                <a:lnTo>
                  <a:pt x="9425703" y="0"/>
                </a:lnTo>
                <a:lnTo>
                  <a:pt x="9425703" y="5260857"/>
                </a:lnTo>
                <a:lnTo>
                  <a:pt x="0" y="5260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609286"/>
            <a:ext cx="6596774" cy="5023796"/>
            <a:chOff x="0" y="0"/>
            <a:chExt cx="8795699" cy="669839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458586"/>
              <a:ext cx="8795699" cy="5239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Exploration des données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Préparation et preprocessing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Réduction de dimension (ACP / PCA)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Modélisation :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Clustering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Classification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Régression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Évaluation et interprétation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Préparation au déploiement (Flask)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95250"/>
              <a:ext cx="8795699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500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Obj</a:t>
              </a:r>
              <a:r>
                <a:rPr lang="en-US" b="true" sz="4500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ectifs pédagogiques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72262" y="422410"/>
            <a:ext cx="11450657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Contexte 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et</a:t>
            </a: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objectifs du projet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686557"/>
            <a:ext cx="6596774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4 372 clients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52 variables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Données :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ransactionnelles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Comportementales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émographiques</a:t>
            </a:r>
          </a:p>
          <a:p>
            <a:pPr algn="just" marL="1079499" indent="-359833" lvl="2">
              <a:lnSpc>
                <a:spcPts val="34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atégorielles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14036"/>
            <a:ext cx="659677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Datas</a:t>
            </a: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et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72262" y="422410"/>
            <a:ext cx="11450657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Présentation de la 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2514036"/>
            <a:ext cx="659677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Exemples de variables</a:t>
            </a: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686557"/>
            <a:ext cx="7702909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Recency → jours depuis le dernier achat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Frequency → nombre de commandes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MonetaryTotal → montant total dépensé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 → âge du client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atisfactionScore → satisfaction client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Churn → départ du client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RFMSegment,CustomerType,Region,AccountStatus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228270"/>
            <a:ext cx="701710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Variable cible principale</a:t>
            </a: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399845"/>
            <a:ext cx="6596774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Churn = 0 → client fidèle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Chu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rn = 1 → client parti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84372" y="4047936"/>
            <a:ext cx="8526804" cy="4759147"/>
          </a:xfrm>
          <a:custGeom>
            <a:avLst/>
            <a:gdLst/>
            <a:ahLst/>
            <a:cxnLst/>
            <a:rect r="r" b="b" t="t" l="l"/>
            <a:pathLst>
              <a:path h="4759147" w="8526804">
                <a:moveTo>
                  <a:pt x="0" y="0"/>
                </a:moveTo>
                <a:lnTo>
                  <a:pt x="8526804" y="0"/>
                </a:lnTo>
                <a:lnTo>
                  <a:pt x="8526804" y="4759147"/>
                </a:lnTo>
                <a:lnTo>
                  <a:pt x="0" y="4759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18672" y="895350"/>
            <a:ext cx="11450657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Exploration des 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données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14036"/>
            <a:ext cx="259256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Objectif </a:t>
            </a: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04650" y="2726761"/>
            <a:ext cx="1206107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Comprendre la structure et la qualité des données av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 la modélisation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38011"/>
            <a:ext cx="526923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Analyses réalisées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859060"/>
            <a:ext cx="6596774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Dimensions du dataset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Types des variables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Valeurs manquantes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Valeurs aber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rantes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Distribution de Churn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Corrélations entre variables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alyse des variables catégorielles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7580" y="4276161"/>
            <a:ext cx="8408132" cy="4692911"/>
          </a:xfrm>
          <a:custGeom>
            <a:avLst/>
            <a:gdLst/>
            <a:ahLst/>
            <a:cxnLst/>
            <a:rect r="r" b="b" t="t" l="l"/>
            <a:pathLst>
              <a:path h="4692911" w="8408132">
                <a:moveTo>
                  <a:pt x="0" y="0"/>
                </a:moveTo>
                <a:lnTo>
                  <a:pt x="8408132" y="0"/>
                </a:lnTo>
                <a:lnTo>
                  <a:pt x="8408132" y="4692911"/>
                </a:lnTo>
                <a:lnTo>
                  <a:pt x="0" y="4692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18672" y="895350"/>
            <a:ext cx="11450657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Exploration des 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données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14036"/>
            <a:ext cx="259256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Objectif </a:t>
            </a: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04650" y="2726761"/>
            <a:ext cx="1206107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Comprendre la structure et la qualité des données av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 la modélisation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38011"/>
            <a:ext cx="562879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Prob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l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èm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es 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d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é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t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e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cté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859060"/>
            <a:ext cx="8115300" cy="438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Valeurs manquantes dans Age et AvgDaysBetweenPurchases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Valeurs aberrantes dans SupportTicketsCount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Valeurs aber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rantes dans SatisfactionScore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NewsletterSubscribed constante → peu informative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RegistrationDate à parser (feature temporelle)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LastLogi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nIP à tr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ansformer (feature engineering)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Risque de data leakage avec certaines variables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18672" y="895350"/>
            <a:ext cx="11450657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Préparation &amp; 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Preprocessing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14036"/>
            <a:ext cx="259256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Objectif </a:t>
            </a: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04650" y="2726761"/>
            <a:ext cx="1263626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Transformer les données brutes en données exploitables p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 les modèles ML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933261"/>
            <a:ext cx="7650723" cy="5748623"/>
            <a:chOff x="0" y="0"/>
            <a:chExt cx="10200965" cy="766483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65667" y="-95250"/>
              <a:ext cx="8469630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500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Traite</a:t>
              </a:r>
              <a:r>
                <a:rPr lang="en-US" b="true" sz="4500" strike="noStrike" u="none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ments appliqués 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56623"/>
              <a:ext cx="10200965" cy="6408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Correction des valeurs aberrantes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Imputation des valeu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rs manquantes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Parsing de RegistrationDate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Feature engineering sur 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LastLogi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nIP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Suppres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sion des colonnes inutiles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Suppression de ChurnRiskCategory (éviter le data leakage)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Encodage One-Hot des variables catégorielles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Standardisation des variables numériques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Split train/test stratifié</a:t>
              </a: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163050" y="4619061"/>
            <a:ext cx="0" cy="5118780"/>
          </a:xfrm>
          <a:prstGeom prst="line">
            <a:avLst/>
          </a:prstGeom>
          <a:ln cap="flat" w="38100">
            <a:solidFill>
              <a:srgbClr val="3C6DB8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9648825" y="3933261"/>
            <a:ext cx="7650723" cy="2243423"/>
            <a:chOff x="0" y="0"/>
            <a:chExt cx="10200965" cy="299123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865667" y="-95250"/>
              <a:ext cx="8469630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500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Sorti</a:t>
              </a:r>
              <a:r>
                <a:rPr lang="en-US" b="true" sz="4500" strike="noStrike" u="none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es générées 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256623"/>
              <a:ext cx="10200965" cy="1734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Dataset nettoyée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Do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nnées train/test prép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arées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repr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ocessor sauvegardé (.joblib)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18672" y="895350"/>
            <a:ext cx="11450657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Transformation — 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ACP / PCA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14036"/>
            <a:ext cx="259256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Objectif </a:t>
            </a: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04650" y="2726761"/>
            <a:ext cx="1206107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Réduire la dimension du dataset tout en conserv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 l’information principale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88683"/>
            <a:ext cx="4768334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Pourquoi uti</a:t>
            </a:r>
            <a:r>
              <a:rPr lang="en-US" b="true" sz="3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liser PCA 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5706" y="4861298"/>
            <a:ext cx="6131123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Réduire le nombre de features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Faciliter la visualisation en 2D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Réduire le b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ruit dans les données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Accé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lérer certains modèles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omparer les pe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formances avec et sans PCA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7017149" y="4375523"/>
            <a:ext cx="0" cy="5118780"/>
          </a:xfrm>
          <a:prstGeom prst="line">
            <a:avLst/>
          </a:prstGeom>
          <a:ln cap="flat" w="38100">
            <a:solidFill>
              <a:srgbClr val="3C6DB8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8236349" y="3788683"/>
            <a:ext cx="3032284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Travail réa</a:t>
            </a:r>
            <a:r>
              <a:rPr lang="en-US" b="true" sz="3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lisé 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2487833" y="4375523"/>
            <a:ext cx="0" cy="5118780"/>
          </a:xfrm>
          <a:prstGeom prst="line">
            <a:avLst/>
          </a:prstGeom>
          <a:ln cap="flat" w="38100">
            <a:solidFill>
              <a:srgbClr val="3C6DB8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372733" y="4861298"/>
            <a:ext cx="4759517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Application de PCA sur les données prétraitées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Analyse de la variance expliquée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Création d’une ve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rsion avec 80% de variance conservée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Visualisation des clients en 2D selon Churn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87958" y="3788683"/>
            <a:ext cx="353758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Sorties générées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40258" y="4861298"/>
            <a:ext cx="4759517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X_train_pca_80.csv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X_test_pca_80.csv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pca_80.joblib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28012" y="3782533"/>
            <a:ext cx="7749859" cy="5271250"/>
          </a:xfrm>
          <a:custGeom>
            <a:avLst/>
            <a:gdLst/>
            <a:ahLst/>
            <a:cxnLst/>
            <a:rect r="r" b="b" t="t" l="l"/>
            <a:pathLst>
              <a:path h="5271250" w="7749859">
                <a:moveTo>
                  <a:pt x="0" y="0"/>
                </a:moveTo>
                <a:lnTo>
                  <a:pt x="7749859" y="0"/>
                </a:lnTo>
                <a:lnTo>
                  <a:pt x="7749859" y="5271250"/>
                </a:lnTo>
                <a:lnTo>
                  <a:pt x="0" y="527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1593" y="891881"/>
            <a:ext cx="14724815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Clustering —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 Segmentation des clients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14036"/>
            <a:ext cx="259256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Objectif </a:t>
            </a: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04650" y="2726761"/>
            <a:ext cx="1206107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Regrouper les clients selon leurs comportements (s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ans variable cible)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95558"/>
            <a:ext cx="311479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Méthod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es 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433783"/>
            <a:ext cx="8115300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K-Means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Méthode du cou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Silhouette score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980008"/>
            <a:ext cx="789301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Choix du nombr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e de clusters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018233"/>
            <a:ext cx="9199312" cy="270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 = 3</a:t>
            </a:r>
          </a:p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EBAF33"/>
                </a:solidFill>
                <a:latin typeface="Poppins Bold"/>
                <a:ea typeface="Poppins Bold"/>
                <a:cs typeface="Poppins Bold"/>
                <a:sym typeface="Poppins Bold"/>
              </a:rPr>
              <a:t>Justification 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 = 2 → meilleur scor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mais segmentation trop simple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 = 3 → bon compromis (qualité + interprétation métier)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 ≥ 4 → dégradation du scor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silhouette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3672114"/>
            <a:ext cx="8510639" cy="5492087"/>
          </a:xfrm>
          <a:custGeom>
            <a:avLst/>
            <a:gdLst/>
            <a:ahLst/>
            <a:cxnLst/>
            <a:rect r="r" b="b" t="t" l="l"/>
            <a:pathLst>
              <a:path h="5492087" w="8510639">
                <a:moveTo>
                  <a:pt x="0" y="0"/>
                </a:moveTo>
                <a:lnTo>
                  <a:pt x="8510639" y="0"/>
                </a:lnTo>
                <a:lnTo>
                  <a:pt x="8510639" y="5492087"/>
                </a:lnTo>
                <a:lnTo>
                  <a:pt x="0" y="5492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1593" y="891881"/>
            <a:ext cx="14724815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Clustering —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 Segmentation des clients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14036"/>
            <a:ext cx="259256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Objectif </a:t>
            </a: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04650" y="2726761"/>
            <a:ext cx="1206107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Regrouper les clients selon leurs comportements (s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ans variable cible)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95558"/>
            <a:ext cx="286785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Résultat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433783"/>
            <a:ext cx="8115300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Cluster 0 → 33.39% churn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Cluster 1 → 0.00% churn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luster 2 → 50.00% churn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980008"/>
            <a:ext cx="408741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In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terprétation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018233"/>
            <a:ext cx="8336527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1 → clients fidèles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Cluster 0 → cli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ents standards (risque moyen)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Cluster 2 → clients à haut r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isque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81593" y="891881"/>
            <a:ext cx="14724815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Classification —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 Prédiction du churn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14036"/>
            <a:ext cx="259256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Objectif </a:t>
            </a: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04650" y="2726761"/>
            <a:ext cx="1206107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Prédire si un client risque de quitter l’ent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reprise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95558"/>
            <a:ext cx="391656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Variabl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e cible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86808" y="3611083"/>
            <a:ext cx="459965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Churn (0 = fi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dèle, 1 = parti)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281383"/>
            <a:ext cx="440745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Modèl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es testés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00533"/>
            <a:ext cx="765072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Logistic Regressio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(avec/sans PCA)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 Forest (avec/sans PCA)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0" y="5805383"/>
            <a:ext cx="7650723" cy="1165225"/>
            <a:chOff x="0" y="0"/>
            <a:chExt cx="10200965" cy="155363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10200965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500">
                  <a:solidFill>
                    <a:srgbClr val="EBAF33"/>
                  </a:solidFill>
                  <a:latin typeface="Play Bold"/>
                  <a:ea typeface="Play Bold"/>
                  <a:cs typeface="Play Bold"/>
                  <a:sym typeface="Play Bold"/>
                </a:rPr>
                <a:t>Ré</a:t>
              </a:r>
              <a:r>
                <a:rPr lang="en-US" b="true" sz="4500" strike="noStrike" u="none">
                  <a:solidFill>
                    <a:srgbClr val="EBAF33"/>
                  </a:solidFill>
                  <a:latin typeface="Play Bold"/>
                  <a:ea typeface="Play Bold"/>
                  <a:cs typeface="Play Bold"/>
                  <a:sym typeface="Play Bold"/>
                </a:rPr>
                <a:t>sultat principal 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87425"/>
              <a:ext cx="10200965" cy="566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and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om Forest sans PCA → meilleur modèle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1100" y="6180033"/>
            <a:ext cx="8115300" cy="2917825"/>
            <a:chOff x="0" y="0"/>
            <a:chExt cx="10820400" cy="389043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7279481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500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Métriqu</a:t>
              </a:r>
              <a:r>
                <a:rPr lang="en-US" b="true" sz="4500" strike="noStrike" u="none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es utilisées :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87425"/>
              <a:ext cx="10820400" cy="2903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Accuracy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Precision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Recal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F1-score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ROC-AUC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464027" y="3834368"/>
          <a:ext cx="11315700" cy="3143250"/>
        </p:xfrm>
        <a:graphic>
          <a:graphicData uri="http://schemas.openxmlformats.org/presentationml/2006/ole">
            <p:oleObj imgW="13576300" imgH="5410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781593" y="891881"/>
            <a:ext cx="14724815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Classification —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 Prédiction du churn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58448" y="2462768"/>
            <a:ext cx="597110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Résultat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s comparatifs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58448" y="7703387"/>
            <a:ext cx="604313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 Remarque</a:t>
            </a:r>
            <a:r>
              <a:rPr lang="en-US" b="true" sz="4500" strike="noStrike" u="none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 importante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10152" y="8760662"/>
            <a:ext cx="756832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Scores très élevés → variables très corrélées au churn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38271" y="3490808"/>
            <a:ext cx="6952609" cy="5962237"/>
          </a:xfrm>
          <a:custGeom>
            <a:avLst/>
            <a:gdLst/>
            <a:ahLst/>
            <a:cxnLst/>
            <a:rect r="r" b="b" t="t" l="l"/>
            <a:pathLst>
              <a:path h="5962237" w="6952609">
                <a:moveTo>
                  <a:pt x="0" y="0"/>
                </a:moveTo>
                <a:lnTo>
                  <a:pt x="6952609" y="0"/>
                </a:lnTo>
                <a:lnTo>
                  <a:pt x="6952609" y="5962237"/>
                </a:lnTo>
                <a:lnTo>
                  <a:pt x="0" y="5962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63053" y="895350"/>
            <a:ext cx="16361894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Régression — 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Prédiction de MonetaryTotal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14036"/>
            <a:ext cx="259256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Objectif </a:t>
            </a: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04650" y="2726761"/>
            <a:ext cx="1206107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Prédire si un client risque de quitter l’ent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reprise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95558"/>
            <a:ext cx="391656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Variabl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e cible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86808" y="3611083"/>
            <a:ext cx="459965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etaryTotal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281383"/>
            <a:ext cx="440745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Modèl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es testés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100533"/>
            <a:ext cx="765072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Linear Regressio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 Forest Regressor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81100" y="6180033"/>
            <a:ext cx="8115300" cy="2041525"/>
            <a:chOff x="0" y="0"/>
            <a:chExt cx="10820400" cy="272203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0"/>
              <a:ext cx="7279481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500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Métriqu</a:t>
              </a:r>
              <a:r>
                <a:rPr lang="en-US" b="true" sz="4500" strike="noStrike" u="none">
                  <a:solidFill>
                    <a:srgbClr val="013DDF"/>
                  </a:solidFill>
                  <a:latin typeface="Play Bold"/>
                  <a:ea typeface="Play Bold"/>
                  <a:cs typeface="Play Bold"/>
                  <a:sym typeface="Play Bold"/>
                </a:rPr>
                <a:t>es utilisées :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987425"/>
              <a:ext cx="10820400" cy="1734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MAE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RMSE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R²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398702" y="3642782"/>
          <a:ext cx="7543800" cy="1885950"/>
        </p:xfrm>
        <a:graphic>
          <a:graphicData uri="http://schemas.openxmlformats.org/presentationml/2006/ole">
            <p:oleObj imgW="9042400" imgH="3390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781593" y="891881"/>
            <a:ext cx="14724815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Classification —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 Prédiction du churn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58448" y="2462768"/>
            <a:ext cx="597110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Résultat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s comparatifs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00292" y="6431766"/>
            <a:ext cx="408741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Inter</a:t>
            </a:r>
            <a:r>
              <a:rPr lang="en-US" b="true" sz="4500" strike="noStrike" u="none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prétation: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18638" y="7290679"/>
            <a:ext cx="7650723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Forest → meilleur MAE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Linear Regressio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→ meilleur RMSE et meilleur R²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Modèle retenu : Linear Regression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398702" y="3642782"/>
          <a:ext cx="7543800" cy="1885950"/>
        </p:xfrm>
        <a:graphic>
          <a:graphicData uri="http://schemas.openxmlformats.org/presentationml/2006/ole">
            <p:oleObj imgW="9042400" imgH="3390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781593" y="891881"/>
            <a:ext cx="14724815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Classification —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 Prédiction du churn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58448" y="2462768"/>
            <a:ext cx="597110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Résultat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s comparatifs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00292" y="6431766"/>
            <a:ext cx="408741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Inter</a:t>
            </a:r>
            <a:r>
              <a:rPr lang="en-US" b="true" sz="4500" strike="noStrike" u="none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prétation: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18638" y="7290679"/>
            <a:ext cx="7650723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Forest → meilleur MAE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Linear Regressio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→ meilleur RMSE et meilleur R²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Modèle retenu : Linear Regression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5146" y="895350"/>
            <a:ext cx="15477707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Évaluation globale &amp; 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Recommandations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7950" y="2814409"/>
            <a:ext cx="635222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Sy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nthèse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209486"/>
            <a:ext cx="7650723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Clustering → segmentation des clie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assification →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pré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diction du churn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Régression → estimation de la valeur client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9144000" y="3252559"/>
            <a:ext cx="20124" cy="6005741"/>
          </a:xfrm>
          <a:prstGeom prst="line">
            <a:avLst/>
          </a:prstGeom>
          <a:ln cap="flat" w="38100">
            <a:solidFill>
              <a:srgbClr val="3C6DB8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623601" y="2814409"/>
            <a:ext cx="725925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 Recommandation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s métier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49899" y="4209486"/>
            <a:ext cx="7650723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Cibler le cluster 2 (haut risque) → campagnes de rétention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Offres perso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nnalisées pour clients à risque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Valoriser le cluster 1 → programmes VIP / fidélité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Utiliser la classification pour anticiper le churn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Utiliser l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régression pou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pri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oriser les clients à forte valeur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Surveiller les variables liées au churn (éviter biais / leakage)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5146" y="895350"/>
            <a:ext cx="15477707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Évaluation globale &amp; </a:t>
            </a:r>
            <a:r>
              <a:rPr lang="en-US" b="true" sz="626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Recommandations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7950" y="2814409"/>
            <a:ext cx="635222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Sy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nthèse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209486"/>
            <a:ext cx="7650723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Clustering → segmentation des clie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assification →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pré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diction du churn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Régression → estimation de la valeur client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9144000" y="3252559"/>
            <a:ext cx="20124" cy="6005741"/>
          </a:xfrm>
          <a:prstGeom prst="line">
            <a:avLst/>
          </a:prstGeom>
          <a:ln cap="flat" w="38100">
            <a:solidFill>
              <a:srgbClr val="3C6DB8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623601" y="2814409"/>
            <a:ext cx="725925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 Recommandation</a:t>
            </a:r>
            <a:r>
              <a:rPr lang="en-US" b="true" sz="4500" strike="noStrike" u="none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s métier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49899" y="4209486"/>
            <a:ext cx="7650723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Cibler le cluster 2 (haut risque) → campagnes de rétention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Offres perso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nnalisées pour clients à risque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Valoriser le cluster 1 → programmes VIP / fidélité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Utiliser la classification pour anticiper le churn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Utiliser l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régression pou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pri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oriser les clients à forte valeur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Surveiller les variables liées au churn (éviter biais / leakage)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79398" y="3511436"/>
            <a:ext cx="8503456" cy="4746115"/>
          </a:xfrm>
          <a:custGeom>
            <a:avLst/>
            <a:gdLst/>
            <a:ahLst/>
            <a:cxnLst/>
            <a:rect r="r" b="b" t="t" l="l"/>
            <a:pathLst>
              <a:path h="4746115" w="8503456">
                <a:moveTo>
                  <a:pt x="0" y="0"/>
                </a:moveTo>
                <a:lnTo>
                  <a:pt x="8503456" y="0"/>
                </a:lnTo>
                <a:lnTo>
                  <a:pt x="8503456" y="4746115"/>
                </a:lnTo>
                <a:lnTo>
                  <a:pt x="0" y="4746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5146" y="895350"/>
            <a:ext cx="15477707" cy="107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00165"/>
            <a:ext cx="8963902" cy="613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Projet couvrant toute la chaîne ML 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xploration → p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réparation → ACP → modélisation → évaluation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Résultats clés :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Segmentation des clients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Prédiction du churn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imation de la valeur client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 métier :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Amélioration de la rétention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arketing ciblé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Priorisation des clients à forte valeur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Limites :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Risque de data leakage</a:t>
            </a:r>
          </a:p>
          <a:p>
            <a:pPr algn="just" marL="1079499" indent="-359833" lvl="2">
              <a:lnSpc>
                <a:spcPts val="34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Influence des outliers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7212" y="8963025"/>
            <a:ext cx="1717357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EBAF33"/>
                </a:solidFill>
                <a:latin typeface="Play Bold"/>
                <a:ea typeface="Play Bold"/>
                <a:cs typeface="Play Bold"/>
                <a:sym typeface="Play Bold"/>
              </a:rPr>
              <a:t>Le projet montre comment transformer les données clients en décisions marketing exploitables.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6566" y="4534336"/>
            <a:ext cx="6447033" cy="108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4"/>
              </a:lnSpc>
              <a:spcBef>
                <a:spcPct val="0"/>
              </a:spcBef>
            </a:pPr>
            <a:r>
              <a:rPr lang="en-US" b="true" sz="626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Merci Pour Votre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90880" y="5485964"/>
            <a:ext cx="3602206" cy="108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764"/>
              </a:lnSpc>
              <a:spcBef>
                <a:spcPct val="0"/>
              </a:spcBef>
            </a:pPr>
            <a:r>
              <a:rPr lang="en-US" sz="6260">
                <a:solidFill>
                  <a:srgbClr val="EBAF33"/>
                </a:solidFill>
                <a:latin typeface="Play"/>
                <a:ea typeface="Play"/>
                <a:cs typeface="Play"/>
                <a:sym typeface="Play"/>
              </a:rPr>
              <a:t>Attention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61751" y="3304012"/>
            <a:ext cx="6297549" cy="3678976"/>
            <a:chOff x="0" y="0"/>
            <a:chExt cx="975655" cy="569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655" cy="569970"/>
            </a:xfrm>
            <a:custGeom>
              <a:avLst/>
              <a:gdLst/>
              <a:ahLst/>
              <a:cxnLst/>
              <a:rect r="r" b="b" t="t" l="l"/>
              <a:pathLst>
                <a:path h="569970" w="975655">
                  <a:moveTo>
                    <a:pt x="0" y="0"/>
                  </a:moveTo>
                  <a:lnTo>
                    <a:pt x="975655" y="0"/>
                  </a:lnTo>
                  <a:lnTo>
                    <a:pt x="975655" y="569970"/>
                  </a:lnTo>
                  <a:lnTo>
                    <a:pt x="0" y="569970"/>
                  </a:lnTo>
                  <a:close/>
                </a:path>
              </a:pathLst>
            </a:custGeom>
            <a:blipFill>
              <a:blip r:embed="rId2"/>
              <a:stretch>
                <a:fillRect l="0" t="-6643" r="0" b="-6643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5886775">
            <a:off x="-3765958" y="8638875"/>
            <a:ext cx="4833563" cy="4114800"/>
          </a:xfrm>
          <a:custGeom>
            <a:avLst/>
            <a:gdLst/>
            <a:ahLst/>
            <a:cxnLst/>
            <a:rect r="r" b="b" t="t" l="l"/>
            <a:pathLst>
              <a:path h="4114800" w="4833563">
                <a:moveTo>
                  <a:pt x="0" y="0"/>
                </a:moveTo>
                <a:lnTo>
                  <a:pt x="4833563" y="0"/>
                </a:lnTo>
                <a:lnTo>
                  <a:pt x="48335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5886775">
            <a:off x="17220395" y="-2931466"/>
            <a:ext cx="4833563" cy="4114800"/>
          </a:xfrm>
          <a:custGeom>
            <a:avLst/>
            <a:gdLst/>
            <a:ahLst/>
            <a:cxnLst/>
            <a:rect r="r" b="b" t="t" l="l"/>
            <a:pathLst>
              <a:path h="4114800" w="4833563">
                <a:moveTo>
                  <a:pt x="0" y="4114800"/>
                </a:moveTo>
                <a:lnTo>
                  <a:pt x="4833563" y="4114800"/>
                </a:lnTo>
                <a:lnTo>
                  <a:pt x="4833563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DAGw5mxFA_0</dc:identifier>
  <dcterms:modified xsi:type="dcterms:W3CDTF">2011-08-01T06:04:30Z</dcterms:modified>
  <cp:revision>1</cp:revision>
  <dc:title>Machine Learning Project</dc:title>
</cp:coreProperties>
</file>